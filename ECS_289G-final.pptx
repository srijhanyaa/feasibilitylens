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unlc7LCp/fHFEOnKWjzyH9lCk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b05202b01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2b05202b01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32b05202b01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b05202b01_1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2b05202b01_1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2b05202b01_1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ca3ec3422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2ca3ec3422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2ca3ec3422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f2a802c72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2f2a802c72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f2a802c72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2f2a802c72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bba961ef8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Feasibility Check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: The LLM assesses the methodology's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feasibility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checking if it's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logically sound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reproducible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practical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It also evaluates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novelty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improvements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over existing approaches, comparing it with the retrieved papers.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Generate Feasibility Report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Report Structure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: The system generates a structured feedback report with categories: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Feasible &amp; Improved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: Methodology is novel and improves existing approaches.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⚠️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Feasible but Similar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: Methodology is feasible but lacks novelty.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❌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Not Feasible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: Identifies potential flaws in methodology or feasibility issues.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2bba961ef8_1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B97"/>
              </a:buClr>
              <a:buSzPts val="2400"/>
              <a:buNone/>
              <a:defRPr sz="2400">
                <a:solidFill>
                  <a:srgbClr val="888B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7"/>
              </a:buClr>
              <a:buSzPts val="2000"/>
              <a:buNone/>
              <a:defRPr sz="2000">
                <a:solidFill>
                  <a:srgbClr val="888B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7"/>
              </a:buClr>
              <a:buSzPts val="1800"/>
              <a:buNone/>
              <a:defRPr sz="1800">
                <a:solidFill>
                  <a:srgbClr val="888B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7"/>
              </a:buClr>
              <a:buSzPts val="1600"/>
              <a:buNone/>
              <a:defRPr sz="1600">
                <a:solidFill>
                  <a:srgbClr val="888B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7"/>
              </a:buClr>
              <a:buSzPts val="1600"/>
              <a:buNone/>
              <a:defRPr sz="1600">
                <a:solidFill>
                  <a:srgbClr val="888B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7"/>
              </a:buClr>
              <a:buSzPts val="1600"/>
              <a:buNone/>
              <a:defRPr sz="1600">
                <a:solidFill>
                  <a:srgbClr val="888B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7"/>
              </a:buClr>
              <a:buSzPts val="1600"/>
              <a:buNone/>
              <a:defRPr sz="1600">
                <a:solidFill>
                  <a:srgbClr val="888B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7"/>
              </a:buClr>
              <a:buSzPts val="1600"/>
              <a:buNone/>
              <a:defRPr sz="1600">
                <a:solidFill>
                  <a:srgbClr val="888B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7"/>
              </a:buClr>
              <a:buSzPts val="1600"/>
              <a:buNone/>
              <a:defRPr sz="1600">
                <a:solidFill>
                  <a:srgbClr val="888B97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B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06017" y="242719"/>
            <a:ext cx="4629910" cy="6944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9659" y="5843041"/>
            <a:ext cx="1765300" cy="4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4619225" y="1137550"/>
            <a:ext cx="6045000" cy="14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FeasibilityLens</a:t>
            </a:r>
            <a:endParaRPr b="1" i="0" sz="6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619225" y="4111625"/>
            <a:ext cx="5230500" cy="24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b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619225" y="242725"/>
            <a:ext cx="65688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ECS 289G 002: Advanced Topics in Vision - Language Research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619225" y="2514950"/>
            <a:ext cx="64488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AI-driven agent assessing research feasibility by analyzing theory, practicality, and computational constraints with RAG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b05202b01_1_9"/>
          <p:cNvSpPr txBox="1"/>
          <p:nvPr>
            <p:ph type="title"/>
          </p:nvPr>
        </p:nvSpPr>
        <p:spPr>
          <a:xfrm>
            <a:off x="483875" y="605900"/>
            <a:ext cx="27618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800"/>
              <a:t>Contents</a:t>
            </a:r>
            <a:endParaRPr b="1" sz="4800"/>
          </a:p>
        </p:txBody>
      </p:sp>
      <p:pic>
        <p:nvPicPr>
          <p:cNvPr id="100" name="Google Shape;100;g32b05202b01_1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58" y="5831453"/>
            <a:ext cx="1765300" cy="4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2b05202b01_1_9"/>
          <p:cNvSpPr txBox="1"/>
          <p:nvPr/>
        </p:nvSpPr>
        <p:spPr>
          <a:xfrm>
            <a:off x="1282575" y="1536225"/>
            <a:ext cx="5745000" cy="3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Idea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Roles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g32b05202b01_1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78219" y="374226"/>
            <a:ext cx="6423656" cy="51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type="title"/>
          </p:nvPr>
        </p:nvSpPr>
        <p:spPr>
          <a:xfrm>
            <a:off x="454450" y="594550"/>
            <a:ext cx="58530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800"/>
              <a:t>Problem Statement </a:t>
            </a:r>
            <a:endParaRPr b="1" sz="4800"/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58" y="5831453"/>
            <a:ext cx="1765300" cy="4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/>
        </p:nvSpPr>
        <p:spPr>
          <a:xfrm>
            <a:off x="193222" y="3227614"/>
            <a:ext cx="10512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3625" y="-489619"/>
            <a:ext cx="5037794" cy="503779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454450" y="1783350"/>
            <a:ext cx="5412000" cy="14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D3B4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How can we extract and integrate domain-specific knowledge into LLMs for better performance?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b05202b01_1_43"/>
          <p:cNvSpPr txBox="1"/>
          <p:nvPr>
            <p:ph type="title"/>
          </p:nvPr>
        </p:nvSpPr>
        <p:spPr>
          <a:xfrm>
            <a:off x="456325" y="605875"/>
            <a:ext cx="35373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800"/>
              <a:t>Motivation</a:t>
            </a:r>
            <a:endParaRPr b="1" sz="4800"/>
          </a:p>
        </p:txBody>
      </p:sp>
      <p:pic>
        <p:nvPicPr>
          <p:cNvPr id="119" name="Google Shape;119;g32b05202b01_1_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58" y="5831453"/>
            <a:ext cx="1765300" cy="4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2b05202b01_1_43"/>
          <p:cNvSpPr txBox="1"/>
          <p:nvPr/>
        </p:nvSpPr>
        <p:spPr>
          <a:xfrm>
            <a:off x="193222" y="3227614"/>
            <a:ext cx="1051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g32b05202b01_1_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78219" y="374226"/>
            <a:ext cx="6423656" cy="513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2b05202b01_1_43"/>
          <p:cNvSpPr txBox="1"/>
          <p:nvPr/>
        </p:nvSpPr>
        <p:spPr>
          <a:xfrm>
            <a:off x="456325" y="1748925"/>
            <a:ext cx="8551800" cy="3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Assessing the feasibility of new research ideas is complex. Expertise is required to verify the theoretical alignment. Practical aspects such as computing requirements and data availability must be considered.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FeasibilityLens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leverages RAG-powered LLMs to automate these task. By integrating domain-specific knowledge, RAG provides deeper contextual understanding and more accurate comparisons, making LLMs more efficient.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ca3ec3422_2_0"/>
          <p:cNvSpPr txBox="1"/>
          <p:nvPr>
            <p:ph type="title"/>
          </p:nvPr>
        </p:nvSpPr>
        <p:spPr>
          <a:xfrm>
            <a:off x="456325" y="605875"/>
            <a:ext cx="35373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800"/>
              <a:t>Background</a:t>
            </a:r>
            <a:endParaRPr b="1" sz="4800"/>
          </a:p>
        </p:txBody>
      </p:sp>
      <p:pic>
        <p:nvPicPr>
          <p:cNvPr id="129" name="Google Shape;129;g32ca3ec3422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58" y="5831453"/>
            <a:ext cx="1765300" cy="4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2ca3ec3422_2_0"/>
          <p:cNvSpPr txBox="1"/>
          <p:nvPr/>
        </p:nvSpPr>
        <p:spPr>
          <a:xfrm>
            <a:off x="193222" y="3227614"/>
            <a:ext cx="1051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g32ca3ec3422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78219" y="374226"/>
            <a:ext cx="6423656" cy="513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2ca3ec3422_2_0"/>
          <p:cNvSpPr txBox="1"/>
          <p:nvPr/>
        </p:nvSpPr>
        <p:spPr>
          <a:xfrm>
            <a:off x="456325" y="1748925"/>
            <a:ext cx="8551800" cy="50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did we choose this Project which is related to research papers?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Central Role in Knowledge Dissemination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Need for Improved Review Processes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Supporting Academic and Industry Collaboration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did we choose RAG?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 (RAG) is a technique that combines the best of both retrieval-based and generative AI models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Enhanced Accuracy and Relevance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Scalability and Flexibility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Deeper Contextual Understanding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32f2a802c72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58" y="5831453"/>
            <a:ext cx="1765300" cy="4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2f2a802c72_0_5"/>
          <p:cNvSpPr txBox="1"/>
          <p:nvPr/>
        </p:nvSpPr>
        <p:spPr>
          <a:xfrm>
            <a:off x="453725" y="541950"/>
            <a:ext cx="38016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g32f2a802c72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3150" y="-448294"/>
            <a:ext cx="5037794" cy="503779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2f2a802c72_0_5"/>
          <p:cNvSpPr txBox="1"/>
          <p:nvPr/>
        </p:nvSpPr>
        <p:spPr>
          <a:xfrm>
            <a:off x="453725" y="1611275"/>
            <a:ext cx="8317800" cy="41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"Can Large Language Models Provide Useful Feedback on Research Papers? A Large-Scale Empirical Analysis"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Explores the use of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GPT-3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to generate feedback on research papers. The authors evaluate the quality of LLM-generated feedback, comparing it with human-written feedback.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study finds that LLMs can provide helpful feedback on aspects like clarity and relevance but they struggle with conceptual evaluation.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2f2a802c72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58" y="5831453"/>
            <a:ext cx="1765300" cy="4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2f2a802c72_0_11"/>
          <p:cNvSpPr txBox="1"/>
          <p:nvPr/>
        </p:nvSpPr>
        <p:spPr>
          <a:xfrm>
            <a:off x="453725" y="541950"/>
            <a:ext cx="38016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g32f2a802c72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3625" y="-489619"/>
            <a:ext cx="5037794" cy="503779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2f2a802c72_0_11"/>
          <p:cNvSpPr txBox="1"/>
          <p:nvPr/>
        </p:nvSpPr>
        <p:spPr>
          <a:xfrm>
            <a:off x="453725" y="1473525"/>
            <a:ext cx="7904700" cy="41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91283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“ReviewRobot: Explainable Paper Review Generation based on Knowledge Synthesis”</a:t>
            </a:r>
            <a:endParaRPr b="1" i="0" sz="2400" u="none" cap="none" strike="noStrike">
              <a:solidFill>
                <a:srgbClr val="00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Automation of paper review process by generating comments across categories such as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novelty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soundness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It uses KGs from paper, its citations, and a broader collection of related works.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KGs serve as evidence, which is compared to generate feedback. Experimental results show the review score predictor achieves 71.4%-100% accuracy.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855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3943" y="-1603305"/>
            <a:ext cx="9249230" cy="9249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9659" y="5843041"/>
            <a:ext cx="1765300" cy="4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 txBox="1"/>
          <p:nvPr/>
        </p:nvSpPr>
        <p:spPr>
          <a:xfrm>
            <a:off x="3842850" y="2689213"/>
            <a:ext cx="45063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1" i="0" sz="4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7283" y="6100753"/>
            <a:ext cx="1765300" cy="4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6775" y="189325"/>
            <a:ext cx="6089800" cy="48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 txBox="1"/>
          <p:nvPr>
            <p:ph type="title"/>
          </p:nvPr>
        </p:nvSpPr>
        <p:spPr>
          <a:xfrm>
            <a:off x="564450" y="374225"/>
            <a:ext cx="66753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Proposed Methodology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564450" y="1759400"/>
            <a:ext cx="9483900" cy="3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arabicPeriod"/>
            </a:pPr>
            <a:r>
              <a:rPr b="1" i="0" lang="en-US" sz="2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Papers</a:t>
            </a:r>
            <a:endParaRPr b="1" i="0" sz="2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Input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researcher uploads the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research paper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a set of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related papers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arabicPeriod"/>
            </a:pPr>
            <a:r>
              <a:rPr b="1" i="0" lang="en-US" sz="2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Retrieval-Augmented Generation (RAG)</a:t>
            </a:r>
            <a:endParaRPr b="1" i="0" sz="2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Paper Retrieval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Use a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 model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(which combines search and generation) to retrieve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relevant papers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from a pre-built database or repository.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 Embedding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Papers are embedded into a vector space using models like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Sentence-BERT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ensuring semantic similarity is captured for accurate retrieval.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g32bba961ef8_1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7283" y="6100753"/>
            <a:ext cx="1765300" cy="4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2bba961ef8_1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7400" y="189325"/>
            <a:ext cx="5569175" cy="445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2bba961ef8_1_4"/>
          <p:cNvSpPr txBox="1"/>
          <p:nvPr>
            <p:ph type="title"/>
          </p:nvPr>
        </p:nvSpPr>
        <p:spPr>
          <a:xfrm>
            <a:off x="564450" y="374225"/>
            <a:ext cx="66753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Proposed Methodology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2bba961ef8_1_4"/>
          <p:cNvSpPr txBox="1"/>
          <p:nvPr/>
        </p:nvSpPr>
        <p:spPr>
          <a:xfrm>
            <a:off x="564450" y="1701175"/>
            <a:ext cx="9662700" cy="4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1" i="0" lang="en-US" sz="2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 Extraction</a:t>
            </a:r>
            <a:endParaRPr b="1" i="0" sz="2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 Techniques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RAG model extracts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methodological details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(e.g., experimental design, algorithms, data collection methods) from the retrieved papers using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Named Entity Recognition (NER)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dependency parsing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Relevant Information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extracted information, such as techniques, assumptions, and methodologies, is organized and prepared for feasibility analysis.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1" i="0" lang="en-US" sz="2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Comparison &amp; Analysis</a:t>
            </a:r>
            <a:endParaRPr b="1" i="0" sz="2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Evaluation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extracted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methodological information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passed to a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 Language Model (LLM)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like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GPT-4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for analysis.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58" y="5831453"/>
            <a:ext cx="1765300" cy="4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078" y="0"/>
            <a:ext cx="9150597" cy="68580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/>
          <p:nvPr>
            <p:ph type="title"/>
          </p:nvPr>
        </p:nvSpPr>
        <p:spPr>
          <a:xfrm>
            <a:off x="2300850" y="2766150"/>
            <a:ext cx="7590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roxima Nova"/>
              <a:buNone/>
            </a:pPr>
            <a:r>
              <a:rPr lang="en-US" sz="10000"/>
              <a:t>THANK YOU</a:t>
            </a:r>
            <a:endParaRPr sz="10000"/>
          </a:p>
        </p:txBody>
      </p:sp>
      <p:pic>
        <p:nvPicPr>
          <p:cNvPr id="183" name="Google Shape;1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58" y="5831453"/>
            <a:ext cx="1765300" cy="4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C Davis ">
      <a:dk1>
        <a:srgbClr val="002754"/>
      </a:dk1>
      <a:lt1>
        <a:srgbClr val="FFFFFF"/>
      </a:lt1>
      <a:dk2>
        <a:srgbClr val="44546A"/>
      </a:dk2>
      <a:lt2>
        <a:srgbClr val="DAAA01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